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e61f7c33-a9a7-6a1a-074a-75ba65fc87cb}">
          <p14:sldIdLst>
            <p14:sldId id="256"/>
          </p14:sldIdLst>
        </p14:section>
        <p14:section name="Introduction" id="{69ef0bea-80eb-fced-c9a1-1894853dd925}">
          <p14:sldIdLst>
            <p14:sldId id="257"/>
            <p14:sldId id="258"/>
          </p14:sldIdLst>
        </p14:section>
        <p14:section name="Méthode" id="{24269800-6c4f-59ee-8966-d31e7a221cf7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ésultats" id="{57364163-baad-9f30-7cc9-4613a1013c11}">
          <p14:sldIdLst>
            <p14:sldId id="266"/>
            <p14:sldId id="267"/>
            <p14:sldId id="268"/>
            <p14:sldId id="269"/>
          </p14:sldIdLst>
        </p14:section>
        <p14:section name="Discussion" id="{65779ddd-f5b3-ce5c-9f66-bf7e760adc03}">
          <p14:sldIdLst>
            <p14:sldId id="270"/>
            <p14:sldId id="271"/>
          </p14:sldIdLst>
        </p14:section>
        <p14:section name="Conclusions" id="{33e0419d-72ef-d06b-7a60-37fabf6085db}">
          <p14:sldIdLst>
            <p14:sldId id="272"/>
          </p14:sldIdLst>
        </p14:section>
        <p14:section name="Références" id="{692b393c-ca58-14f0-e498-4b56fea5075e}">
          <p14:sldIdLst>
            <p14:sldId id="273"/>
          </p14:sldIdLst>
        </p14:section>
        <p14:section name="Annexes" id="{33be6e4b-104a-a149-cbd8-c87ddefe0a6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patients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Thrombopénie</c:v>
                  </c:pt>
                  <c:pt idx="1">
                    <c:v>Lymphopénie</c:v>
                  </c:pt>
                  <c:pt idx="2">
                    <c:v>Anémie</c:v>
                  </c:pt>
                  <c:pt idx="3">
                    <c:v>Neutrophiles hauts</c:v>
                  </c:pt>
                  <c:pt idx="4">
                    <c:v>Fibrinogène élevé</c:v>
                  </c:pt>
                  <c:pt idx="5">
                    <c:v>Lymphocytes bas</c:v>
                  </c:pt>
                  <c:pt idx="6">
                    <c:v>CRP élevée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44</c:v>
                </c:pt>
                <c:pt idx="2">
                  <c:v>58</c:v>
                </c:pt>
                <c:pt idx="3">
                  <c:v>60</c:v>
                </c:pt>
                <c:pt idx="4">
                  <c:v>75</c:v>
                </c:pt>
                <c:pt idx="5">
                  <c:v>79</c:v>
                </c:pt>
                <c:pt idx="6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WBC</c:v>
                  </c:pt>
                  <c:pt idx="1">
                    <c:v>CRP</c:v>
                  </c:pt>
                  <c:pt idx="2">
                    <c:v>AGE</c:v>
                  </c:pt>
                  <c:pt idx="3">
                    <c:v>MONOR</c:v>
                  </c:pt>
                  <c:pt idx="4">
                    <c:v>LYMR</c:v>
                  </c:pt>
                  <c:pt idx="5">
                    <c:v>LYM</c:v>
                  </c:pt>
                  <c:pt idx="6">
                    <c:v>NEUR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0.512</c:v>
                </c:pt>
                <c:pt idx="1">
                  <c:v>0.6</c:v>
                </c:pt>
                <c:pt idx="2">
                  <c:v>0.613</c:v>
                </c:pt>
                <c:pt idx="3">
                  <c:v>0.634</c:v>
                </c:pt>
                <c:pt idx="4">
                  <c:v>0.673</c:v>
                </c:pt>
                <c:pt idx="5">
                  <c:v>0.686</c:v>
                </c:pt>
                <c:pt idx="6">
                  <c:v>0.696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.4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Plaquettes médianes (G/L)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Indice MPV mesuré</c:v>
                  </c:pt>
                  <c:pt idx="1">
                    <c:v>Indice MPV manquant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209</c:v>
                </c:pt>
                <c:pt idx="1">
                  <c:v>55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du super-learner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Seuil par défaut 0,500</c:v>
                  </c:pt>
                  <c:pt idx="1">
                    <c:v>Seuil réglé 0,205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0.06</c:v>
                </c:pt>
                <c:pt idx="1">
                  <c:v>0.352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au seuil optimal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Arbres extrêmes</c:v>
                  </c:pt>
                  <c:pt idx="1">
                    <c:v>Boosting</c:v>
                  </c:pt>
                  <c:pt idx="2">
                    <c:v>Forêt aléatoire</c:v>
                  </c:pt>
                  <c:pt idx="3">
                    <c:v>Régression logistique</c:v>
                  </c:pt>
                  <c:pt idx="4">
                    <c:v>Super-learner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0.328</c:v>
                </c:pt>
                <c:pt idx="1">
                  <c:v>0.332</c:v>
                </c:pt>
                <c:pt idx="2">
                  <c:v>0.336</c:v>
                </c:pt>
                <c:pt idx="3">
                  <c:v>0.337</c:v>
                </c:pt>
                <c:pt idx="4">
                  <c:v>0.352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78"/>
          <c:min val="0.3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Perte de précision moyenne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CRP</c:v>
                  </c:pt>
                  <c:pt idx="1">
                    <c:v>CHE</c:v>
                  </c:pt>
                  <c:pt idx="2">
                    <c:v>SODIUM</c:v>
                  </c:pt>
                  <c:pt idx="3">
                    <c:v>AGE</c:v>
                  </c:pt>
                  <c:pt idx="4">
                    <c:v>GLU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0.0906</c:v>
                </c:pt>
                <c:pt idx="1">
                  <c:v>0.0926</c:v>
                </c:pt>
                <c:pt idx="2">
                  <c:v>0.0957</c:v>
                </c:pt>
                <c:pt idx="3">
                  <c:v>0.1071</c:v>
                </c:pt>
                <c:pt idx="4">
                  <c:v>0.1182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4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Quinze minutes. Quatre parties : introduction, methode, resultats,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probleme clinique : un examen lent, couteux, et dont le rendement est faible.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F1 depend d'un seuil de decision : ce point commande tout le protocole qui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profils se superposent : inflammation et reaction bacterienne. Il s'agit de distinguer une bacteriemie d'une infection localisee, pas d'un sujet 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reproduction des AUC publiees vaut validation externe du pretraitement. Il faudra combiner les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MNAR : la probabilite qu'une donnee manque depend de la valeur qu'on aurait mesuree.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de methode : la matrice de correlation ne revele pas un rapport entre trois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Aucune information du test, pas meme une mediane d'imputation, ne remonte vers l'entrainement.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Optimiser au seuil par defaut reviendrait a juger les modeles sur une decision non encore 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duplication des fonctions de preparation est le principal risque operationnel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Resultat principal : le seuil, et non le modele, porte l'essentiel de la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super-learner est retenu, mais le choix n'est pas impose par les chiffres : la foret est plus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rapport de la precision a la prevalence est ce qui compte en pratique.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calcul porte sur l'entrainement, le jeu de test ne devant servir qu'une fois.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observations independantes convergent vers la meme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limites avant que le jury ne les souleve.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a laisser affichee pendant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NTHESE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la bactériémie</a:t>
            </a:r>
            <a:endParaRPr lang="en-US" sz="32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partir d'une prise de sang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et évaluation d'un modèle de risque sur 11 753 patients hospitalisés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64592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 Mirgan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2 Intelligence en données de santé  · 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L'hémoculture demande plusieurs jours et revient le plus souvent négative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 de référence de la bactériémie : le sang est mis en culture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résultat n'arrive qu'au bout de plusieurs jours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plupart des prélèvements reviennent négatifs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analyses de routine sont, elles, déjà disponibles</a:t>
            </a:r>
            <a:endParaRPr lang="en-US" sz="2000" dirty="0"/>
          </a:p>
        </p:txBody>
      </p:sp>
      <p:sp>
        <p:nvSpPr>
          <p:cNvPr id="5" name="etape-clinique-1"/>
          <p:cNvSpPr/>
          <p:nvPr/>
        </p:nvSpPr>
        <p:spPr>
          <a:xfrm>
            <a:off x="457200" y="3291840"/>
            <a:ext cx="2560320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Prélèvement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médecin suspecte une infection du sang</a:t>
            </a:r>
            <a:endParaRPr lang="en-US" sz="1400" dirty="0"/>
          </a:p>
        </p:txBody>
      </p:sp>
      <p:sp>
        <p:nvSpPr>
          <p:cNvPr id="8" name="etape-clinique-2"/>
          <p:cNvSpPr/>
          <p:nvPr/>
        </p:nvSpPr>
        <p:spPr>
          <a:xfrm>
            <a:off x="3246120" y="3291840"/>
            <a:ext cx="2560320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3429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culture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jours d'attente au laboratoire</a:t>
            </a:r>
            <a:endParaRPr lang="en-US" sz="1400" dirty="0"/>
          </a:p>
        </p:txBody>
      </p:sp>
      <p:sp>
        <p:nvSpPr>
          <p:cNvPr id="11" name="etape-clinique-3"/>
          <p:cNvSpPr/>
          <p:nvPr/>
        </p:nvSpPr>
        <p:spPr>
          <a:xfrm>
            <a:off x="6035040" y="3291840"/>
            <a:ext cx="2560320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429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Négatif dans la grande majorité des cas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de risque bâti sur les analyses de routine permettrait d'écarter tôt les patients à faible risque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prédire le résultat de l'hémoculture et maximiser le F1</a:t>
            </a:r>
            <a:endParaRPr lang="en-US" sz="2400" dirty="0"/>
          </a:p>
        </p:txBody>
      </p:sp>
      <p:sp>
        <p:nvSpPr>
          <p:cNvPr id="4" name="question"/>
          <p:cNvSpPr/>
          <p:nvPr/>
        </p:nvSpPr>
        <p:spPr>
          <a:xfrm>
            <a:off x="1005840" y="1508760"/>
            <a:ext cx="7132320" cy="1234440"/>
          </a:xfrm>
          <a:prstGeom prst="roundRect">
            <a:avLst>
              <a:gd name="adj" fmla="val 5926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459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résultat de l'hémoculture à partir de l'âge, du sexe et de 50 analyses sanguines de routine, en maximisant le F1 sur la classe positive.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du critère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classe positive étant rare, le taux de bonnes réponses est trompeur : répondre « non » à tous suffit à le maximiser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critère du défi est le F1, départagé par la précision en cas d'égalité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compte 11 753 patients, tous prélevés sur suspicion d'infection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de la base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variables : âge, sexe, 50 analyses et le résultat de l'hémoculture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944 bactériémies, soit 8 % des patients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27 % des patients seulement ont un bilan complet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sujet sain : 93 % ont déjà une CRP élevée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des patients hors des bornes de référence ; jeu de données du défi, cohorte de Ratzinger et al. (2014)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analyse prise seule n'atteint une AUC de 0,70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à 0,696, pour la proportion de neutrophiles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nombre de globules blancs seul atteint 0,512, soit le hasard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valeurs reproduisent la littérature à moins de 0,015 près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calculées sur la cohorte ; comparaison : Ratzinger et al. (2014)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valeurs manquantes dépendent de l'état du patient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out"/>
          <p:cNvSpPr/>
          <p:nvPr/>
        </p:nvSpPr>
        <p:spPr>
          <a:xfrm>
            <a:off x="2743200" y="23774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74320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86 % de thrombopénie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L'automate ne calcule pas l'indice faute de plaquettes : mécanisme MNAR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manquants se groupent en onze panels d'examens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garder que les bilans complets coûterait 73 % de la cohorte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: imputation, assortie d'un indicateur binaire de manquant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Huit variables sont calculées à partir des autres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Calculée à partir 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Corrélation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et RBC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HGB et RBC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MCHC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HGB et HCT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moins les quatre autres pourcentages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810512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indices servent à reconstruire RBC et HCT, puis sont retirés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cinq pourcentages sont écartés du seul modèle linéaire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arbres les conservent, le découpage par seuils n'en souffre pas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MCV et HCT n'ont qu'une corrélation de 0,01 : une corrélation par paires ne détecte pas ces relations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préparation est ajustée sur le seul jeu d'entraînement</a:t>
            </a:r>
            <a:endParaRPr lang="en-US" sz="2400" dirty="0"/>
          </a:p>
        </p:txBody>
      </p:sp>
      <p:sp>
        <p:nvSpPr>
          <p:cNvPr id="4" name="etape-1"/>
          <p:cNvSpPr/>
          <p:nvPr/>
        </p:nvSpPr>
        <p:spPr>
          <a:xfrm>
            <a:off x="457200" y="1444752"/>
            <a:ext cx="1892808" cy="22402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819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Nettoyer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01952"/>
            <a:ext cx="161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Hématocrite ou plaquettes à zéro, potassium au-dessus de 10 mmol/L : passés en manquant. Les valeurs extrêmes réelles sont conservées.</a:t>
            </a:r>
            <a:endParaRPr lang="en-US" sz="1300" dirty="0"/>
          </a:p>
        </p:txBody>
      </p:sp>
      <p:sp>
        <p:nvSpPr>
          <p:cNvPr id="7" name="etape-2"/>
          <p:cNvSpPr/>
          <p:nvPr/>
        </p:nvSpPr>
        <p:spPr>
          <a:xfrm>
            <a:off x="2551176" y="1444752"/>
            <a:ext cx="1892808" cy="22402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88336" y="15819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Réparer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1901952"/>
            <a:ext cx="161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indices érythrocytaires sont des formules : inversées, elles reconstruisent les globules rouges et l'hématocrite manquants.</a:t>
            </a:r>
            <a:endParaRPr lang="en-US" sz="1300" dirty="0"/>
          </a:p>
        </p:txBody>
      </p:sp>
      <p:sp>
        <p:nvSpPr>
          <p:cNvPr id="10" name="etape-3"/>
          <p:cNvSpPr/>
          <p:nvPr/>
        </p:nvSpPr>
        <p:spPr>
          <a:xfrm>
            <a:off x="4645152" y="1444752"/>
            <a:ext cx="1892808" cy="22402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2312" y="15819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Enrichir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1901952"/>
            <a:ext cx="161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rapports cliniques entre analyses, et les indicateurs binaires de manquant.</a:t>
            </a:r>
            <a:endParaRPr lang="en-US" sz="1300" dirty="0"/>
          </a:p>
        </p:txBody>
      </p:sp>
      <p:sp>
        <p:nvSpPr>
          <p:cNvPr id="13" name="etape-4"/>
          <p:cNvSpPr/>
          <p:nvPr/>
        </p:nvSpPr>
        <p:spPr>
          <a:xfrm>
            <a:off x="6739128" y="1444752"/>
            <a:ext cx="1892808" cy="22402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15819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Transformer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1901952"/>
            <a:ext cx="161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Logarithme des variables asymétriques pour le seul modèle linéaire ; les arbres découpent sur des seuils.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test : 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 des patients, tirés en conservant la proportion de positifs, soit 2 351 patients mis de côté avant toute transformation et consultés une seule fois. Médianes et quantiles sont appris sur le seul entraînement.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modèles sont comparés, optimisés, puis leur seuil est réglé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4846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Modèle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Arbres en série, chacun corrige le précédent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Régression logistique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Somme pondérée des variables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Forêt aléatoire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Centaines d'arbres qui votent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Arbres extrêmes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Idem, seuils tirés au hasard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Super-learner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les quatre autres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10512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en validation croisée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par recherche bayésienne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Régler le seuil sur le F1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une fois sur le test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 des étapes 1 à 3 :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précision moyenne, indépendante du seuil.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quatre modèles de base pondèrent les classes ; le super-learner reçoit des probabilités déjà corrigées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essai est journalisé dans MLflow, le modèle est livré avec un script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10512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Paramètres, scores et modèle enregistrés à chaque exécution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Comparaison, optimisation et réglage du seuil journalisés séparément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Hyperparamètres mis en cache sous une empreinte de l'espace de recherche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10512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retenu est réentraîné sur toutes les données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enregistré avec la liste des colonnes attendues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Predicts.py lit un CSV et écrit deux colonnes, ID et pred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seuil est à l'intérieur du modèle, rien à recalculer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vigilance : la préparation est écrite deux fois, dans le notebook et dans Predicts.py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réglage du seuil fait passer le F1 de 0,060 à 0,352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out"/>
          <p:cNvSpPr/>
          <p:nvPr/>
        </p:nvSpPr>
        <p:spPr>
          <a:xfrm>
            <a:off x="1463040" y="17373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multiplié par 6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8 % de positifs, les probabilités dépassent rarement 0,5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seuil est réglé en validation croisée, sans toucher au jeu de test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autre réglage du projet ne produit un écart de cet ordre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mesuré en validation croisée sur l'échantillon d'entraînement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L'écart entre les cinq modèles est de 0,024 de F1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super-learner devance la régression logistique de 0,015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variabilité d'un pli à l'autre est de l'ordre de 0,02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L'écart reste donc de l'ordre du bruit de mesure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modèle est évalué à son propre seuil optimal, en validation croisée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jeu de test, la précision passe de 8 % à 30 %</a:t>
            </a:r>
            <a:endParaRPr lang="en-US" sz="2400" dirty="0"/>
          </a:p>
        </p:txBody>
      </p:sp>
      <p:sp>
        <p:nvSpPr>
          <p:cNvPr id="4" name="perf-1"/>
          <p:cNvSpPr/>
          <p:nvPr/>
        </p:nvSpPr>
        <p:spPr>
          <a:xfrm>
            <a:off x="457200" y="1444752"/>
            <a:ext cx="1892808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0,338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391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500" dirty="0"/>
          </a:p>
        </p:txBody>
      </p:sp>
      <p:sp>
        <p:nvSpPr>
          <p:cNvPr id="7" name="perf-2"/>
          <p:cNvSpPr/>
          <p:nvPr/>
        </p:nvSpPr>
        <p:spPr>
          <a:xfrm>
            <a:off x="2551176" y="1444752"/>
            <a:ext cx="1892808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88336" y="155448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0,304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20391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</a:t>
            </a:r>
            <a:endParaRPr lang="en-US" sz="1500" dirty="0"/>
          </a:p>
        </p:txBody>
      </p:sp>
      <p:sp>
        <p:nvSpPr>
          <p:cNvPr id="10" name="perf-3"/>
          <p:cNvSpPr/>
          <p:nvPr/>
        </p:nvSpPr>
        <p:spPr>
          <a:xfrm>
            <a:off x="4645152" y="1444752"/>
            <a:ext cx="1892808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2312" y="155448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0,381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20391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</a:t>
            </a:r>
            <a:endParaRPr lang="en-US" sz="1500" dirty="0"/>
          </a:p>
        </p:txBody>
      </p:sp>
      <p:sp>
        <p:nvSpPr>
          <p:cNvPr id="13" name="perf-4"/>
          <p:cNvSpPr/>
          <p:nvPr/>
        </p:nvSpPr>
        <p:spPr>
          <a:xfrm>
            <a:off x="6739128" y="1444752"/>
            <a:ext cx="1892808" cy="10515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155448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03911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clinique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5468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30 % des patients signalés ont une bactériémie, contre 8 % dans la cohorte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38 % des bactériémies sont détectées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 unique, sur 2 351 patients que le modèle n'avait pas vus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test : 2 351 patients, dont 189 positifs ; seuil de décision de 0,205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variable ne domine : l'importance est répartie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44752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810512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cinq premières variables tiennent dans 0,028 de perte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rapport construit n'arrive qu'en neuvième position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variables redondantes se partagent le mérite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par permutation, mesurée sur l'entraînement, score : précision moyenne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recouvrement des deux classes borne la performance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cohorte ne contient aucun sujet sain : 93 % ont déjà une CRP élevée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variable ne dépasse 0,70 d'AUC et l'importance est répartie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cinq modèles convergent vers la même valeur de F1</a:t>
            </a:r>
            <a:endParaRPr lang="en-US" sz="2000" dirty="0"/>
          </a:p>
        </p:txBody>
      </p:sp>
      <p:sp>
        <p:nvSpPr>
          <p:cNvPr id="6" name="implication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 : </a:t>
            </a:r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progresser demanderait d'autres données, cliniques ou temporelles, plutôt qu'un modèle plus puissant sur les mêmes colonnes.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limites bornent la portée du résultat</a:t>
            </a:r>
            <a:endParaRPr lang="en-US" sz="2400" dirty="0"/>
          </a:p>
        </p:txBody>
      </p:sp>
      <p:sp>
        <p:nvSpPr>
          <p:cNvPr id="4" name="limite-1"/>
          <p:cNvSpPr/>
          <p:nvPr/>
        </p:nvSpPr>
        <p:spPr>
          <a:xfrm>
            <a:off x="457200" y="1444752"/>
            <a:ext cx="82296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chiffre, sans intervalle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jeu de test n'a servi qu'une fois. Le F1 est crédible, mais ne vient pas avec un intervalle de confiance.</a:t>
            </a:r>
            <a:endParaRPr lang="en-US" sz="1600" dirty="0"/>
          </a:p>
        </p:txBody>
      </p:sp>
      <p:sp>
        <p:nvSpPr>
          <p:cNvPr id="7" name="limite-2"/>
          <p:cNvSpPr/>
          <p:nvPr/>
        </p:nvSpPr>
        <p:spPr>
          <a:xfrm>
            <a:off x="457200" y="2542032"/>
            <a:ext cx="82296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334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bruitées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53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colonnes ont été bruitées pour protéger la confidentialité : aucune valeur individuelle n'est interprétable cliniquement.</a:t>
            </a:r>
            <a:endParaRPr lang="en-US" sz="1600" dirty="0"/>
          </a:p>
        </p:txBody>
      </p:sp>
      <p:sp>
        <p:nvSpPr>
          <p:cNvPr id="10" name="limite-3"/>
          <p:cNvSpPr/>
          <p:nvPr/>
        </p:nvSpPr>
        <p:spPr>
          <a:xfrm>
            <a:off x="457200" y="3639312"/>
            <a:ext cx="82296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307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encombrant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super-learner enregistré pèse plusieurs centaines de méga-octets ; il n'est pas versionnable et doit être réentraîné après un clone.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de ces limites n'affecte la comparaison entre modèles, tous évalués dans les mêmes conditions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seuil de décision est le principal levier.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533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modèle passe d'un F1 de 0,060 à 0,352 une fois le seuil réglé.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84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valeurs manquantes portent de l'information.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3230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Elles sont imputées avec un indicateur, jamais supprimées : leur absence reflète l'état du patient.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638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638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retenu atteint un F1 de 0,338.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112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porte la précision de 8 % à 30 % sur un jeu de test consulté une seule fois.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Abdo Mirgan  ·  abdomirgan96@gmail.com  ·  code et documentation dans le dépôt du projet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Ratzinger, F., Dedeyan, M., Rammerstorfer, M., et al. (2014). A Risk Prediction Model for Screening Bacteremic Patients. PLoS ONE, 9(9), e106765.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Pedregosa, F., Varoquaux, G., Gramfort, A., et al. (2011). Scikit-learn: Machine Learning in Python. Journal of Machine Learning Research, 12, 2825-2830.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Head, T., Kumar, M., Nahrstaedt, H., Louppe, G., &amp; Shcherbatyi, I. (2021). scikit-optimize. Zenodo.</a:t>
            </a:r>
            <a:endParaRPr lang="en-US" sz="140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Zaharia, M., Chen, A., Davidson, A., et al. (2018). Accelerating the Machine Learning Lifecycle with MLflow. IEEE Data Engineering Bulletin, 41(4), 39-45.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Annexe 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pistes ont été testées puis écartées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Résultat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brutes données au super-learner en plus des probabilités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plus faible qu'avec les seules probabilités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Miroir logarithmique de la proportion de neutrophiles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 corrigée, aucun effet sur le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Compteurs de manquants par panel d'examens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Redondants avec les indicateurs de l'imputation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Réseau de neurones dense à deux couches, régularisé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de 0,336, au niveau des autres modèles, pour un coût bien supérieur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73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essais sont enregistrés dans MLflow au même titre que les modèles retenus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9744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de la bacteriemie</dc:title>
  <dc:subject>PptxGenJS Presentation</dc:subject>
  <dc:creator>Abdo Mirgan</dc:creator>
  <cp:lastModifiedBy>Abdo Mirgan</cp:lastModifiedBy>
  <cp:revision>1</cp:revision>
  <dcterms:created xsi:type="dcterms:W3CDTF">2026-10-18T23:34:18Z</dcterms:created>
  <dcterms:modified xsi:type="dcterms:W3CDTF">2026-10-18T23:34:18Z</dcterms:modified>
</cp:coreProperties>
</file>